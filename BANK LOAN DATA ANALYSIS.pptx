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28" r:id="rId1"/>
  </p:sldMasterIdLst>
  <p:sldIdLst>
    <p:sldId id="256" r:id="rId2"/>
    <p:sldId id="257" r:id="rId3"/>
    <p:sldId id="261" r:id="rId4"/>
    <p:sldId id="263" r:id="rId5"/>
    <p:sldId id="264" r:id="rId6"/>
    <p:sldId id="269" r:id="rId7"/>
    <p:sldId id="265" r:id="rId8"/>
    <p:sldId id="270" r:id="rId9"/>
    <p:sldId id="260" r:id="rId10"/>
    <p:sldId id="266" r:id="rId11"/>
    <p:sldId id="258" r:id="rId12"/>
    <p:sldId id="268" r:id="rId13"/>
    <p:sldId id="272" r:id="rId14"/>
    <p:sldId id="267" r:id="rId15"/>
    <p:sldId id="271" r:id="rId16"/>
    <p:sldId id="26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97E28A9-F160-40F1-BF55-5741C5E81C13}">
          <p14:sldIdLst>
            <p14:sldId id="256"/>
            <p14:sldId id="257"/>
            <p14:sldId id="261"/>
            <p14:sldId id="263"/>
            <p14:sldId id="264"/>
            <p14:sldId id="269"/>
            <p14:sldId id="265"/>
            <p14:sldId id="270"/>
            <p14:sldId id="260"/>
            <p14:sldId id="266"/>
            <p14:sldId id="258"/>
            <p14:sldId id="268"/>
            <p14:sldId id="272"/>
            <p14:sldId id="267"/>
            <p14:sldId id="27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74" autoAdjust="0"/>
    <p:restoredTop sz="94660"/>
  </p:normalViewPr>
  <p:slideViewPr>
    <p:cSldViewPr snapToGrid="0">
      <p:cViewPr varScale="1">
        <p:scale>
          <a:sx n="72" d="100"/>
          <a:sy n="72" d="100"/>
        </p:scale>
        <p:origin x="65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9/20/2026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35380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20466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64986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21883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9/20/2026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468015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9/20/2026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79721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9/20/2026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6432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23572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72220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30654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08716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466206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520500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9/20/2026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5433986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9/20/2026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32314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91430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08823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9/20/2026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89140757"/>
      </p:ext>
    </p:extLst>
  </p:cSld>
  <p:clrMap bg1="dk1" tx1="lt1" bg2="dk2" tx2="lt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1" r:id="rId13"/>
    <p:sldLayoutId id="2147483942" r:id="rId14"/>
    <p:sldLayoutId id="2147483943" r:id="rId15"/>
    <p:sldLayoutId id="2147483944" r:id="rId16"/>
    <p:sldLayoutId id="214748394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EE4E3-9323-4489-8666-B85B90DDD3AC}"/>
              </a:ext>
            </a:extLst>
          </p:cNvPr>
          <p:cNvSpPr>
            <a:spLocks noGrp="1"/>
          </p:cNvSpPr>
          <p:nvPr>
            <p:ph type="ctrTitle"/>
          </p:nvPr>
        </p:nvSpPr>
        <p:spPr/>
        <p:txBody>
          <a:bodyPr>
            <a:normAutofit/>
          </a:bodyPr>
          <a:lstStyle/>
          <a:p>
            <a:r>
              <a:rPr lang="en-US" dirty="0">
                <a:latin typeface="Adobe Garamond Pro Bold" panose="02020702060506020403" pitchFamily="18" charset="0"/>
              </a:rPr>
              <a:t>Bank Loan Financial Analytics</a:t>
            </a:r>
            <a:endParaRPr lang="en-AE" dirty="0">
              <a:latin typeface="Adobe Garamond Pro Bold" panose="02020702060506020403" pitchFamily="18" charset="0"/>
            </a:endParaRPr>
          </a:p>
        </p:txBody>
      </p:sp>
      <p:sp>
        <p:nvSpPr>
          <p:cNvPr id="4" name="Subtitle 3">
            <a:extLst>
              <a:ext uri="{FF2B5EF4-FFF2-40B4-BE49-F238E27FC236}">
                <a16:creationId xmlns:a16="http://schemas.microsoft.com/office/drawing/2014/main" id="{1682D7EF-4DAB-4685-9797-EB22F5A70304}"/>
              </a:ext>
            </a:extLst>
          </p:cNvPr>
          <p:cNvSpPr>
            <a:spLocks noGrp="1"/>
          </p:cNvSpPr>
          <p:nvPr>
            <p:ph type="subTitle" idx="1"/>
          </p:nvPr>
        </p:nvSpPr>
        <p:spPr/>
        <p:txBody>
          <a:bodyPr/>
          <a:lstStyle/>
          <a:p>
            <a:r>
              <a:rPr lang="en-US" dirty="0"/>
              <a:t>Executive Portfolio Analysis &amp; Risk Insights</a:t>
            </a:r>
            <a:endParaRPr lang="en-AE" dirty="0"/>
          </a:p>
        </p:txBody>
      </p:sp>
    </p:spTree>
    <p:extLst>
      <p:ext uri="{BB962C8B-B14F-4D97-AF65-F5344CB8AC3E}">
        <p14:creationId xmlns:p14="http://schemas.microsoft.com/office/powerpoint/2010/main" val="2194865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43FF7-0C24-4AD8-A4F8-83170B7674DF}"/>
              </a:ext>
            </a:extLst>
          </p:cNvPr>
          <p:cNvSpPr>
            <a:spLocks noGrp="1"/>
          </p:cNvSpPr>
          <p:nvPr>
            <p:ph type="title"/>
          </p:nvPr>
        </p:nvSpPr>
        <p:spPr/>
        <p:txBody>
          <a:bodyPr/>
          <a:lstStyle/>
          <a:p>
            <a:r>
              <a:rPr lang="en-US" dirty="0">
                <a:latin typeface="Adobe Garamond Pro Bold" panose="02020702060506020403" pitchFamily="18" charset="0"/>
              </a:rPr>
              <a:t>GROUP MEMBERS</a:t>
            </a:r>
            <a:endParaRPr lang="en-AE" dirty="0">
              <a:latin typeface="Adobe Garamond Pro Bold" panose="02020702060506020403" pitchFamily="18" charset="0"/>
            </a:endParaRPr>
          </a:p>
        </p:txBody>
      </p:sp>
      <p:sp>
        <p:nvSpPr>
          <p:cNvPr id="3" name="Content Placeholder 2">
            <a:extLst>
              <a:ext uri="{FF2B5EF4-FFF2-40B4-BE49-F238E27FC236}">
                <a16:creationId xmlns:a16="http://schemas.microsoft.com/office/drawing/2014/main" id="{118DC778-9FA1-494C-82D7-A40D423EF509}"/>
              </a:ext>
            </a:extLst>
          </p:cNvPr>
          <p:cNvSpPr>
            <a:spLocks noGrp="1"/>
          </p:cNvSpPr>
          <p:nvPr>
            <p:ph idx="1"/>
          </p:nvPr>
        </p:nvSpPr>
        <p:spPr/>
        <p:txBody>
          <a:bodyPr>
            <a:normAutofit/>
          </a:bodyPr>
          <a:lstStyle/>
          <a:p>
            <a:r>
              <a:rPr lang="en-US" sz="2000" dirty="0">
                <a:latin typeface="Adobe Garamond Pro" panose="02020502060506020403" pitchFamily="18" charset="0"/>
              </a:rPr>
              <a:t>J. Nikitha	</a:t>
            </a:r>
          </a:p>
          <a:p>
            <a:r>
              <a:rPr lang="en-US" sz="2000" dirty="0">
                <a:latin typeface="Adobe Garamond Pro" panose="02020502060506020403" pitchFamily="18" charset="0"/>
              </a:rPr>
              <a:t>N. Sinchana</a:t>
            </a:r>
          </a:p>
          <a:p>
            <a:r>
              <a:rPr lang="en-US" sz="2000" dirty="0">
                <a:latin typeface="Adobe Garamond Pro" panose="02020502060506020403" pitchFamily="18" charset="0"/>
              </a:rPr>
              <a:t>K. Mahendra	</a:t>
            </a:r>
          </a:p>
          <a:p>
            <a:r>
              <a:rPr lang="en-US" sz="2000" dirty="0">
                <a:latin typeface="Adobe Garamond Pro" panose="02020502060506020403" pitchFamily="18" charset="0"/>
              </a:rPr>
              <a:t>kishore kumar	</a:t>
            </a:r>
          </a:p>
          <a:p>
            <a:r>
              <a:rPr lang="en-US" sz="2000" dirty="0">
                <a:latin typeface="Adobe Garamond Pro" panose="02020502060506020403" pitchFamily="18" charset="0"/>
              </a:rPr>
              <a:t>B. Veeranjaneyulu	</a:t>
            </a:r>
          </a:p>
          <a:p>
            <a:r>
              <a:rPr lang="en-US" sz="2000" dirty="0">
                <a:latin typeface="Adobe Garamond Pro" panose="02020502060506020403" pitchFamily="18" charset="0"/>
              </a:rPr>
              <a:t>E. Jyothi	</a:t>
            </a:r>
          </a:p>
          <a:p>
            <a:r>
              <a:rPr lang="en-US" sz="2000" dirty="0">
                <a:latin typeface="Adobe Garamond Pro" panose="02020502060506020403" pitchFamily="18" charset="0"/>
              </a:rPr>
              <a:t>K. R. Sumanth Reddy</a:t>
            </a:r>
            <a:endParaRPr lang="en-AE" sz="2000" dirty="0">
              <a:latin typeface="Adobe Garamond Pro" panose="02020502060506020403" pitchFamily="18" charset="0"/>
            </a:endParaRPr>
          </a:p>
        </p:txBody>
      </p:sp>
    </p:spTree>
    <p:extLst>
      <p:ext uri="{BB962C8B-B14F-4D97-AF65-F5344CB8AC3E}">
        <p14:creationId xmlns:p14="http://schemas.microsoft.com/office/powerpoint/2010/main" val="3599410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3EAE6-AF83-4FE5-97A8-8BF24F6A944A}"/>
              </a:ext>
            </a:extLst>
          </p:cNvPr>
          <p:cNvSpPr>
            <a:spLocks noGrp="1"/>
          </p:cNvSpPr>
          <p:nvPr>
            <p:ph type="title"/>
          </p:nvPr>
        </p:nvSpPr>
        <p:spPr>
          <a:xfrm>
            <a:off x="1141413" y="618518"/>
            <a:ext cx="9905998" cy="1000265"/>
          </a:xfrm>
        </p:spPr>
        <p:txBody>
          <a:bodyPr>
            <a:normAutofit/>
          </a:bodyPr>
          <a:lstStyle/>
          <a:p>
            <a:r>
              <a:rPr lang="en-US" dirty="0">
                <a:latin typeface="Adobe Garamond Pro Bold" panose="02020702060506020403" pitchFamily="18" charset="0"/>
              </a:rPr>
              <a:t>Project overview</a:t>
            </a:r>
            <a:endParaRPr lang="en-AE" dirty="0">
              <a:latin typeface="Adobe Garamond Pro Bold" panose="02020702060506020403" pitchFamily="18" charset="0"/>
            </a:endParaRPr>
          </a:p>
        </p:txBody>
      </p:sp>
      <p:sp>
        <p:nvSpPr>
          <p:cNvPr id="10" name="Content Placeholder 9">
            <a:extLst>
              <a:ext uri="{FF2B5EF4-FFF2-40B4-BE49-F238E27FC236}">
                <a16:creationId xmlns:a16="http://schemas.microsoft.com/office/drawing/2014/main" id="{E503FFEF-B92C-4BA6-B4E4-2174DCC50D5E}"/>
              </a:ext>
            </a:extLst>
          </p:cNvPr>
          <p:cNvSpPr>
            <a:spLocks noGrp="1"/>
          </p:cNvSpPr>
          <p:nvPr>
            <p:ph idx="1"/>
          </p:nvPr>
        </p:nvSpPr>
        <p:spPr>
          <a:xfrm>
            <a:off x="1141412" y="1904931"/>
            <a:ext cx="9905999" cy="3541714"/>
          </a:xfrm>
        </p:spPr>
        <p:txBody>
          <a:bodyPr/>
          <a:lstStyle/>
          <a:p>
            <a:pPr lvl="1"/>
            <a:r>
              <a:rPr lang="en-US" sz="2400" dirty="0">
                <a:latin typeface="Adobe Garamond Pro" panose="02020502060506020403" pitchFamily="18" charset="0"/>
              </a:rPr>
              <a:t>This project focuses on analyzing bank loan data to understand loan distribution, customer credit characteristics, repayment behavior, loan status, and payment patterns.</a:t>
            </a:r>
          </a:p>
          <a:p>
            <a:endParaRPr lang="en-AE" dirty="0"/>
          </a:p>
        </p:txBody>
      </p:sp>
      <p:sp>
        <p:nvSpPr>
          <p:cNvPr id="11" name="Rectangle 1">
            <a:extLst>
              <a:ext uri="{FF2B5EF4-FFF2-40B4-BE49-F238E27FC236}">
                <a16:creationId xmlns:a16="http://schemas.microsoft.com/office/drawing/2014/main" id="{3C0CCC88-6B02-47F1-A737-A2CE86AC510E}"/>
              </a:ext>
            </a:extLst>
          </p:cNvPr>
          <p:cNvSpPr>
            <a:spLocks noChangeArrowheads="1"/>
          </p:cNvSpPr>
          <p:nvPr/>
        </p:nvSpPr>
        <p:spPr bwMode="auto">
          <a:xfrm>
            <a:off x="1572107" y="2876950"/>
            <a:ext cx="9475304" cy="3093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dobe Garamond Pro" panose="02020502060506020403" pitchFamily="18" charset="0"/>
              </a:rPr>
              <a:t>Two Excel datasets were used.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dobe Garamond Pro" panose="02020502060506020403" pitchFamily="18" charset="0"/>
              </a:rPr>
              <a:t>Both datasets contain approximately 39K+ records.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dobe Garamond Pro" panose="02020502060506020403" pitchFamily="18" charset="0"/>
              </a:rPr>
              <a:t>The datasets were combined using the common </a:t>
            </a:r>
            <a:r>
              <a:rPr kumimoji="0" lang="en-US" altLang="en-US" sz="1100" b="0" i="0" u="none" strike="noStrike" cap="none" normalizeH="0" baseline="0" dirty="0">
                <a:ln>
                  <a:noFill/>
                </a:ln>
                <a:solidFill>
                  <a:schemeClr val="tx1"/>
                </a:solidFill>
                <a:effectLst/>
                <a:latin typeface="Adobe Garamond Pro" panose="02020502060506020403" pitchFamily="18" charset="0"/>
              </a:rPr>
              <a:t>id</a:t>
            </a:r>
            <a:r>
              <a:rPr kumimoji="0" lang="en-US" altLang="en-US" sz="1400" b="0" i="0" u="none" strike="noStrike" cap="none" normalizeH="0" baseline="0" dirty="0">
                <a:ln>
                  <a:noFill/>
                </a:ln>
                <a:solidFill>
                  <a:schemeClr val="tx1"/>
                </a:solidFill>
                <a:effectLst/>
                <a:latin typeface="Adobe Garamond Pro" panose="02020502060506020403" pitchFamily="18" charset="0"/>
              </a:rPr>
              <a:t> column. </a:t>
            </a:r>
            <a:endParaRPr kumimoji="0" lang="en-US" altLang="en-US" sz="2400" b="0" i="0" u="none" strike="noStrike" cap="none" normalizeH="0" baseline="0" dirty="0">
              <a:ln>
                <a:noFill/>
              </a:ln>
              <a:solidFill>
                <a:schemeClr val="tx1"/>
              </a:solidFill>
              <a:effectLst/>
              <a:latin typeface="Adobe Garamond Pro" panose="02020502060506020403"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dobe Garamond Pro" panose="02020502060506020403" pitchFamily="18" charset="0"/>
              </a:rPr>
              <a:t>Excel, MySQL, Tableau, and Power BI were used for analysis and visualization. </a:t>
            </a:r>
            <a:endParaRPr kumimoji="0" lang="en-US" altLang="en-US" sz="2000" b="0" i="0" u="none" strike="noStrike" cap="none" normalizeH="0" baseline="0" dirty="0">
              <a:ln>
                <a:noFill/>
              </a:ln>
              <a:solidFill>
                <a:schemeClr val="tx1"/>
              </a:solidFill>
              <a:effectLst/>
              <a:latin typeface="Adobe Garamond Pro" panose="02020502060506020403" pitchFamily="18" charset="0"/>
            </a:endParaRPr>
          </a:p>
        </p:txBody>
      </p:sp>
    </p:spTree>
    <p:extLst>
      <p:ext uri="{BB962C8B-B14F-4D97-AF65-F5344CB8AC3E}">
        <p14:creationId xmlns:p14="http://schemas.microsoft.com/office/powerpoint/2010/main" val="969070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5A3365-D5A9-440E-B4E8-4333194DA686}"/>
              </a:ext>
            </a:extLst>
          </p:cNvPr>
          <p:cNvSpPr>
            <a:spLocks noGrp="1"/>
          </p:cNvSpPr>
          <p:nvPr>
            <p:ph type="body" idx="1"/>
          </p:nvPr>
        </p:nvSpPr>
        <p:spPr>
          <a:xfrm>
            <a:off x="1250750" y="734801"/>
            <a:ext cx="5971685" cy="789199"/>
          </a:xfrm>
        </p:spPr>
        <p:txBody>
          <a:bodyPr>
            <a:normAutofit fontScale="92500"/>
          </a:bodyPr>
          <a:lstStyle/>
          <a:p>
            <a:r>
              <a:rPr lang="en-US" sz="3600" dirty="0">
                <a:latin typeface="Adobe Garamond Pro Bold" panose="02020702060506020403" pitchFamily="18" charset="0"/>
              </a:rPr>
              <a:t>DATA SET &amp; data SOURCES</a:t>
            </a:r>
            <a:endParaRPr lang="en-AE" sz="3600" dirty="0">
              <a:latin typeface="Adobe Garamond Pro Bold" panose="02020702060506020403" pitchFamily="18" charset="0"/>
            </a:endParaRPr>
          </a:p>
        </p:txBody>
      </p:sp>
      <p:pic>
        <p:nvPicPr>
          <p:cNvPr id="5" name="Content Placeholder 4">
            <a:extLst>
              <a:ext uri="{FF2B5EF4-FFF2-40B4-BE49-F238E27FC236}">
                <a16:creationId xmlns:a16="http://schemas.microsoft.com/office/drawing/2014/main" id="{708DB1EA-D5B7-4E0E-BB32-01499FCBCC5E}"/>
              </a:ext>
            </a:extLst>
          </p:cNvPr>
          <p:cNvPicPr>
            <a:picLocks noGrp="1" noChangeAspect="1"/>
          </p:cNvPicPr>
          <p:nvPr>
            <p:ph sz="half" idx="2"/>
          </p:nvPr>
        </p:nvPicPr>
        <p:blipFill>
          <a:blip r:embed="rId2"/>
          <a:stretch>
            <a:fillRect/>
          </a:stretch>
        </p:blipFill>
        <p:spPr>
          <a:xfrm>
            <a:off x="6096000" y="2277339"/>
            <a:ext cx="4667901" cy="1000265"/>
          </a:xfrm>
        </p:spPr>
      </p:pic>
      <p:sp>
        <p:nvSpPr>
          <p:cNvPr id="6" name="Content Placeholder 5">
            <a:extLst>
              <a:ext uri="{FF2B5EF4-FFF2-40B4-BE49-F238E27FC236}">
                <a16:creationId xmlns:a16="http://schemas.microsoft.com/office/drawing/2014/main" id="{C21016D2-686C-422B-8EED-6C3BC6A04453}"/>
              </a:ext>
            </a:extLst>
          </p:cNvPr>
          <p:cNvSpPr>
            <a:spLocks noGrp="1"/>
          </p:cNvSpPr>
          <p:nvPr>
            <p:ph sz="quarter" idx="4"/>
          </p:nvPr>
        </p:nvSpPr>
        <p:spPr>
          <a:xfrm>
            <a:off x="1220790" y="2070099"/>
            <a:ext cx="4875210" cy="2717801"/>
          </a:xfrm>
        </p:spPr>
        <p:txBody>
          <a:bodyPr>
            <a:normAutofit lnSpcReduction="10000"/>
          </a:bodyPr>
          <a:lstStyle/>
          <a:p>
            <a:r>
              <a:rPr lang="en-US" b="1" dirty="0"/>
              <a:t>Finance_1.xlsx</a:t>
            </a:r>
            <a:br>
              <a:rPr lang="en-US" dirty="0"/>
            </a:br>
            <a:r>
              <a:rPr lang="en-US" dirty="0"/>
              <a:t>→ Loan/Application &amp; Customer Information</a:t>
            </a:r>
          </a:p>
          <a:p>
            <a:r>
              <a:rPr lang="en-US" b="1" dirty="0"/>
              <a:t>Finance_2.xlsx</a:t>
            </a:r>
            <a:br>
              <a:rPr lang="en-US" dirty="0"/>
            </a:br>
            <a:r>
              <a:rPr lang="en-US" dirty="0"/>
              <a:t>→ Credit History &amp; Payment Information</a:t>
            </a:r>
          </a:p>
          <a:p>
            <a:endParaRPr lang="en-AE" dirty="0"/>
          </a:p>
        </p:txBody>
      </p:sp>
      <p:sp>
        <p:nvSpPr>
          <p:cNvPr id="9" name="Text Placeholder 3">
            <a:extLst>
              <a:ext uri="{FF2B5EF4-FFF2-40B4-BE49-F238E27FC236}">
                <a16:creationId xmlns:a16="http://schemas.microsoft.com/office/drawing/2014/main" id="{CA8D742B-E71E-444F-AFC8-61F89858AC7F}"/>
              </a:ext>
            </a:extLst>
          </p:cNvPr>
          <p:cNvSpPr txBox="1">
            <a:spLocks/>
          </p:cNvSpPr>
          <p:nvPr/>
        </p:nvSpPr>
        <p:spPr>
          <a:xfrm>
            <a:off x="6324608" y="4165111"/>
            <a:ext cx="4646602"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SzPct val="125000"/>
              <a:buFont typeface="Arial" panose="020B0604020202020204" pitchFamily="34" charset="0"/>
              <a:buNone/>
              <a:defRPr sz="2400" b="0" kern="1200" cap="all" baseline="0">
                <a:solidFill>
                  <a:schemeClr val="tx1"/>
                </a:solidFill>
                <a:latin typeface="+mn-lt"/>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9pPr>
          </a:lstStyle>
          <a:p>
            <a:endParaRPr lang="en-AE" dirty="0"/>
          </a:p>
        </p:txBody>
      </p:sp>
      <p:sp>
        <p:nvSpPr>
          <p:cNvPr id="10" name="Rectangle 1">
            <a:extLst>
              <a:ext uri="{FF2B5EF4-FFF2-40B4-BE49-F238E27FC236}">
                <a16:creationId xmlns:a16="http://schemas.microsoft.com/office/drawing/2014/main" id="{AE08F6FE-B3A5-4309-9E08-B9E2980940AD}"/>
              </a:ext>
            </a:extLst>
          </p:cNvPr>
          <p:cNvSpPr>
            <a:spLocks noGrp="1" noChangeArrowheads="1"/>
          </p:cNvSpPr>
          <p:nvPr>
            <p:ph type="body" sz="quarter" idx="3"/>
          </p:nvPr>
        </p:nvSpPr>
        <p:spPr bwMode="auto">
          <a:xfrm>
            <a:off x="2385391" y="5115231"/>
            <a:ext cx="8123583" cy="109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Common Key: </a:t>
            </a:r>
            <a:r>
              <a:rPr kumimoji="0" lang="en-US" altLang="en-US" sz="1000" b="1" i="0" u="none" strike="noStrike" cap="none" normalizeH="0" baseline="0" dirty="0">
                <a:ln>
                  <a:noFill/>
                </a:ln>
                <a:solidFill>
                  <a:schemeClr val="tx1"/>
                </a:solidFill>
                <a:effectLst/>
                <a:latin typeface="Arial Unicode MS"/>
              </a:rPr>
              <a:t>id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Finance_1 + Finance_2 → Combined Bank Loan Dataset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88356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B229-249D-4DAB-AEC7-1AF72ADFE39E}"/>
              </a:ext>
            </a:extLst>
          </p:cNvPr>
          <p:cNvSpPr>
            <a:spLocks noGrp="1"/>
          </p:cNvSpPr>
          <p:nvPr>
            <p:ph type="title"/>
          </p:nvPr>
        </p:nvSpPr>
        <p:spPr>
          <a:xfrm>
            <a:off x="1049506" y="346216"/>
            <a:ext cx="7485754" cy="757446"/>
          </a:xfrm>
        </p:spPr>
        <p:txBody>
          <a:bodyPr/>
          <a:lstStyle/>
          <a:p>
            <a:r>
              <a:rPr lang="en-US" b="1" dirty="0">
                <a:latin typeface="Adobe Garamond Pro Bold" panose="02020702060506020403" pitchFamily="18" charset="0"/>
              </a:rPr>
              <a:t>Workflow Followed</a:t>
            </a:r>
            <a:endParaRPr lang="en-AE" b="1" dirty="0">
              <a:latin typeface="Adobe Garamond Pro Bold" panose="02020702060506020403" pitchFamily="18" charset="0"/>
            </a:endParaRPr>
          </a:p>
        </p:txBody>
      </p:sp>
      <p:grpSp>
        <p:nvGrpSpPr>
          <p:cNvPr id="32" name="Group 31">
            <a:extLst>
              <a:ext uri="{FF2B5EF4-FFF2-40B4-BE49-F238E27FC236}">
                <a16:creationId xmlns:a16="http://schemas.microsoft.com/office/drawing/2014/main" id="{E2F5C4F6-45E5-4170-BE0C-E2C8FA48D82E}"/>
              </a:ext>
            </a:extLst>
          </p:cNvPr>
          <p:cNvGrpSpPr/>
          <p:nvPr/>
        </p:nvGrpSpPr>
        <p:grpSpPr>
          <a:xfrm>
            <a:off x="1154663" y="1773512"/>
            <a:ext cx="10109685" cy="3734420"/>
            <a:chOff x="955880" y="1747007"/>
            <a:chExt cx="10951761" cy="3734420"/>
          </a:xfrm>
        </p:grpSpPr>
        <p:sp>
          <p:nvSpPr>
            <p:cNvPr id="7" name="Rectangle: Rounded Corners 6">
              <a:extLst>
                <a:ext uri="{FF2B5EF4-FFF2-40B4-BE49-F238E27FC236}">
                  <a16:creationId xmlns:a16="http://schemas.microsoft.com/office/drawing/2014/main" id="{07C71997-3831-4D90-B848-C0D51D8CB1E4}"/>
                </a:ext>
              </a:extLst>
            </p:cNvPr>
            <p:cNvSpPr/>
            <p:nvPr/>
          </p:nvSpPr>
          <p:spPr>
            <a:xfrm>
              <a:off x="955880" y="1747007"/>
              <a:ext cx="2330659" cy="103035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DATA LOADING</a:t>
              </a:r>
              <a:endParaRPr lang="en-AE" dirty="0"/>
            </a:p>
          </p:txBody>
        </p:sp>
        <p:sp>
          <p:nvSpPr>
            <p:cNvPr id="8" name="Rectangle: Rounded Corners 7">
              <a:extLst>
                <a:ext uri="{FF2B5EF4-FFF2-40B4-BE49-F238E27FC236}">
                  <a16:creationId xmlns:a16="http://schemas.microsoft.com/office/drawing/2014/main" id="{ACE7E906-FDA9-43E0-B20E-B9FA8C9578A3}"/>
                </a:ext>
              </a:extLst>
            </p:cNvPr>
            <p:cNvSpPr/>
            <p:nvPr/>
          </p:nvSpPr>
          <p:spPr>
            <a:xfrm>
              <a:off x="9576982" y="4442858"/>
              <a:ext cx="2330659" cy="103035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latin typeface="Adobe Garamond Pro" panose="02020502060506020403" pitchFamily="18" charset="0"/>
                </a:rPr>
                <a:t>ANALYSIS</a:t>
              </a:r>
              <a:endParaRPr lang="en-AE" dirty="0">
                <a:latin typeface="Adobe Garamond Pro" panose="02020502060506020403" pitchFamily="18" charset="0"/>
              </a:endParaRPr>
            </a:p>
          </p:txBody>
        </p:sp>
        <p:sp>
          <p:nvSpPr>
            <p:cNvPr id="9" name="Rectangle: Rounded Corners 8">
              <a:extLst>
                <a:ext uri="{FF2B5EF4-FFF2-40B4-BE49-F238E27FC236}">
                  <a16:creationId xmlns:a16="http://schemas.microsoft.com/office/drawing/2014/main" id="{84A40B66-9F51-4C7F-957C-130C42596818}"/>
                </a:ext>
              </a:extLst>
            </p:cNvPr>
            <p:cNvSpPr/>
            <p:nvPr/>
          </p:nvSpPr>
          <p:spPr>
            <a:xfrm>
              <a:off x="9606882" y="1747007"/>
              <a:ext cx="2174301" cy="103035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latin typeface="Adobe Garamond Pro" panose="02020502060506020403" pitchFamily="18" charset="0"/>
                </a:rPr>
                <a:t>DATA MODELING</a:t>
              </a:r>
              <a:endParaRPr lang="en-AE" dirty="0">
                <a:latin typeface="Adobe Garamond Pro" panose="02020502060506020403" pitchFamily="18" charset="0"/>
              </a:endParaRPr>
            </a:p>
          </p:txBody>
        </p:sp>
        <p:sp>
          <p:nvSpPr>
            <p:cNvPr id="10" name="Rectangle: Rounded Corners 9">
              <a:extLst>
                <a:ext uri="{FF2B5EF4-FFF2-40B4-BE49-F238E27FC236}">
                  <a16:creationId xmlns:a16="http://schemas.microsoft.com/office/drawing/2014/main" id="{8F18F49E-0BF5-4CFA-9E75-F18092CEAA8B}"/>
                </a:ext>
              </a:extLst>
            </p:cNvPr>
            <p:cNvSpPr/>
            <p:nvPr/>
          </p:nvSpPr>
          <p:spPr>
            <a:xfrm>
              <a:off x="6765368" y="1747007"/>
              <a:ext cx="2189252" cy="103035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latin typeface="Adobe Garamond Pro" panose="02020502060506020403" pitchFamily="18" charset="0"/>
                </a:rPr>
                <a:t>DATA INTEGRATION</a:t>
              </a:r>
              <a:endParaRPr lang="en-AE" dirty="0">
                <a:latin typeface="Adobe Garamond Pro" panose="02020502060506020403" pitchFamily="18" charset="0"/>
              </a:endParaRPr>
            </a:p>
          </p:txBody>
        </p:sp>
        <p:sp>
          <p:nvSpPr>
            <p:cNvPr id="11" name="Rectangle: Rounded Corners 10">
              <a:extLst>
                <a:ext uri="{FF2B5EF4-FFF2-40B4-BE49-F238E27FC236}">
                  <a16:creationId xmlns:a16="http://schemas.microsoft.com/office/drawing/2014/main" id="{F8A28173-5A43-449A-8464-A884F08AD5EC}"/>
                </a:ext>
              </a:extLst>
            </p:cNvPr>
            <p:cNvSpPr/>
            <p:nvPr/>
          </p:nvSpPr>
          <p:spPr>
            <a:xfrm>
              <a:off x="3953753" y="1771855"/>
              <a:ext cx="2174302" cy="103035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DATA CLEANING</a:t>
              </a:r>
              <a:endParaRPr lang="en-AE" dirty="0"/>
            </a:p>
          </p:txBody>
        </p:sp>
        <p:sp>
          <p:nvSpPr>
            <p:cNvPr id="12" name="Rectangle: Rounded Corners 11">
              <a:extLst>
                <a:ext uri="{FF2B5EF4-FFF2-40B4-BE49-F238E27FC236}">
                  <a16:creationId xmlns:a16="http://schemas.microsoft.com/office/drawing/2014/main" id="{244F19C1-1979-42DB-B80D-8AC1CA3A0C16}"/>
                </a:ext>
              </a:extLst>
            </p:cNvPr>
            <p:cNvSpPr/>
            <p:nvPr/>
          </p:nvSpPr>
          <p:spPr>
            <a:xfrm>
              <a:off x="6765367" y="4444220"/>
              <a:ext cx="2330659" cy="103035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latin typeface="Adobe Garamond Pro" panose="02020502060506020403" pitchFamily="18" charset="0"/>
                </a:rPr>
                <a:t>VISUALIZATION</a:t>
              </a:r>
              <a:endParaRPr lang="en-AE" dirty="0">
                <a:latin typeface="Adobe Garamond Pro" panose="02020502060506020403" pitchFamily="18" charset="0"/>
              </a:endParaRPr>
            </a:p>
          </p:txBody>
        </p:sp>
        <p:sp>
          <p:nvSpPr>
            <p:cNvPr id="13" name="Rectangle: Rounded Corners 12">
              <a:extLst>
                <a:ext uri="{FF2B5EF4-FFF2-40B4-BE49-F238E27FC236}">
                  <a16:creationId xmlns:a16="http://schemas.microsoft.com/office/drawing/2014/main" id="{E83C60EF-A9AB-46A2-B07C-29A7C33403F7}"/>
                </a:ext>
              </a:extLst>
            </p:cNvPr>
            <p:cNvSpPr/>
            <p:nvPr/>
          </p:nvSpPr>
          <p:spPr>
            <a:xfrm>
              <a:off x="3953752" y="4451070"/>
              <a:ext cx="2330659" cy="103035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latin typeface="Adobe Garamond Pro" panose="02020502060506020403" pitchFamily="18" charset="0"/>
                </a:rPr>
                <a:t>DASHBOARD</a:t>
              </a:r>
              <a:endParaRPr lang="en-AE" dirty="0">
                <a:latin typeface="Adobe Garamond Pro" panose="02020502060506020403" pitchFamily="18" charset="0"/>
              </a:endParaRPr>
            </a:p>
          </p:txBody>
        </p:sp>
        <p:sp>
          <p:nvSpPr>
            <p:cNvPr id="14" name="Rectangle: Rounded Corners 13">
              <a:extLst>
                <a:ext uri="{FF2B5EF4-FFF2-40B4-BE49-F238E27FC236}">
                  <a16:creationId xmlns:a16="http://schemas.microsoft.com/office/drawing/2014/main" id="{AE35F714-90B7-48AA-9337-D7ED595ACF1A}"/>
                </a:ext>
              </a:extLst>
            </p:cNvPr>
            <p:cNvSpPr/>
            <p:nvPr/>
          </p:nvSpPr>
          <p:spPr>
            <a:xfrm>
              <a:off x="955880" y="4451070"/>
              <a:ext cx="2330659" cy="103035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latin typeface="Adobe Garamond Pro" panose="02020502060506020403" pitchFamily="18" charset="0"/>
                </a:rPr>
                <a:t>INSIGHTS</a:t>
              </a:r>
              <a:endParaRPr lang="en-AE" dirty="0">
                <a:latin typeface="Adobe Garamond Pro" panose="02020502060506020403" pitchFamily="18" charset="0"/>
              </a:endParaRPr>
            </a:p>
          </p:txBody>
        </p:sp>
        <p:sp>
          <p:nvSpPr>
            <p:cNvPr id="25" name="Arrow: Right 24">
              <a:extLst>
                <a:ext uri="{FF2B5EF4-FFF2-40B4-BE49-F238E27FC236}">
                  <a16:creationId xmlns:a16="http://schemas.microsoft.com/office/drawing/2014/main" id="{A5980398-4F8E-4535-AEE2-E345CA42C6B1}"/>
                </a:ext>
              </a:extLst>
            </p:cNvPr>
            <p:cNvSpPr/>
            <p:nvPr/>
          </p:nvSpPr>
          <p:spPr>
            <a:xfrm>
              <a:off x="3286539" y="2177185"/>
              <a:ext cx="667213" cy="169999"/>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AE" dirty="0"/>
            </a:p>
          </p:txBody>
        </p:sp>
        <p:sp>
          <p:nvSpPr>
            <p:cNvPr id="26" name="Arrow: Right 25">
              <a:extLst>
                <a:ext uri="{FF2B5EF4-FFF2-40B4-BE49-F238E27FC236}">
                  <a16:creationId xmlns:a16="http://schemas.microsoft.com/office/drawing/2014/main" id="{20A0CC06-22D1-4190-9751-3D8165AA8660}"/>
                </a:ext>
              </a:extLst>
            </p:cNvPr>
            <p:cNvSpPr/>
            <p:nvPr/>
          </p:nvSpPr>
          <p:spPr>
            <a:xfrm>
              <a:off x="6113105" y="2177185"/>
              <a:ext cx="667213" cy="169999"/>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AE" dirty="0"/>
            </a:p>
          </p:txBody>
        </p:sp>
        <p:sp>
          <p:nvSpPr>
            <p:cNvPr id="27" name="Arrow: Right 26">
              <a:extLst>
                <a:ext uri="{FF2B5EF4-FFF2-40B4-BE49-F238E27FC236}">
                  <a16:creationId xmlns:a16="http://schemas.microsoft.com/office/drawing/2014/main" id="{0280CA63-59B8-42CC-B8CC-A031AF96427F}"/>
                </a:ext>
              </a:extLst>
            </p:cNvPr>
            <p:cNvSpPr/>
            <p:nvPr/>
          </p:nvSpPr>
          <p:spPr>
            <a:xfrm>
              <a:off x="8939669" y="2236931"/>
              <a:ext cx="667213" cy="169999"/>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AE" dirty="0"/>
            </a:p>
          </p:txBody>
        </p:sp>
        <p:sp>
          <p:nvSpPr>
            <p:cNvPr id="28" name="Arrow: Right 27">
              <a:extLst>
                <a:ext uri="{FF2B5EF4-FFF2-40B4-BE49-F238E27FC236}">
                  <a16:creationId xmlns:a16="http://schemas.microsoft.com/office/drawing/2014/main" id="{ED9783AC-FF8B-4E33-B6CD-4805B1EB70AC}"/>
                </a:ext>
              </a:extLst>
            </p:cNvPr>
            <p:cNvSpPr/>
            <p:nvPr/>
          </p:nvSpPr>
          <p:spPr>
            <a:xfrm rot="5400000">
              <a:off x="9950268" y="3519944"/>
              <a:ext cx="1673704" cy="238242"/>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AE" dirty="0"/>
            </a:p>
          </p:txBody>
        </p:sp>
        <p:sp>
          <p:nvSpPr>
            <p:cNvPr id="29" name="Arrow: Right 28">
              <a:extLst>
                <a:ext uri="{FF2B5EF4-FFF2-40B4-BE49-F238E27FC236}">
                  <a16:creationId xmlns:a16="http://schemas.microsoft.com/office/drawing/2014/main" id="{E7509725-7529-4AC1-AE50-44D93E35585A}"/>
                </a:ext>
              </a:extLst>
            </p:cNvPr>
            <p:cNvSpPr/>
            <p:nvPr/>
          </p:nvSpPr>
          <p:spPr>
            <a:xfrm rot="10800000">
              <a:off x="9096026" y="4899083"/>
              <a:ext cx="480956" cy="117905"/>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AE" dirty="0"/>
            </a:p>
          </p:txBody>
        </p:sp>
        <p:sp>
          <p:nvSpPr>
            <p:cNvPr id="30" name="Arrow: Right 29">
              <a:extLst>
                <a:ext uri="{FF2B5EF4-FFF2-40B4-BE49-F238E27FC236}">
                  <a16:creationId xmlns:a16="http://schemas.microsoft.com/office/drawing/2014/main" id="{41955292-34F1-4596-83D7-D611264AEE75}"/>
                </a:ext>
              </a:extLst>
            </p:cNvPr>
            <p:cNvSpPr/>
            <p:nvPr/>
          </p:nvSpPr>
          <p:spPr>
            <a:xfrm rot="10800000">
              <a:off x="6283467" y="4930136"/>
              <a:ext cx="480956" cy="117905"/>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AE" dirty="0"/>
            </a:p>
          </p:txBody>
        </p:sp>
        <p:sp>
          <p:nvSpPr>
            <p:cNvPr id="31" name="Arrow: Right 30">
              <a:extLst>
                <a:ext uri="{FF2B5EF4-FFF2-40B4-BE49-F238E27FC236}">
                  <a16:creationId xmlns:a16="http://schemas.microsoft.com/office/drawing/2014/main" id="{BBACD300-7498-4A03-B776-11D4391AB699}"/>
                </a:ext>
              </a:extLst>
            </p:cNvPr>
            <p:cNvSpPr/>
            <p:nvPr/>
          </p:nvSpPr>
          <p:spPr>
            <a:xfrm rot="10800000">
              <a:off x="3286539" y="4928741"/>
              <a:ext cx="666268" cy="169998"/>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AE" dirty="0"/>
            </a:p>
          </p:txBody>
        </p:sp>
      </p:grpSp>
    </p:spTree>
    <p:extLst>
      <p:ext uri="{BB962C8B-B14F-4D97-AF65-F5344CB8AC3E}">
        <p14:creationId xmlns:p14="http://schemas.microsoft.com/office/powerpoint/2010/main" val="1620239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6FA6794-1DF9-4FA5-BD4E-2A790F9B13BD}"/>
              </a:ext>
            </a:extLst>
          </p:cNvPr>
          <p:cNvSpPr>
            <a:spLocks noGrp="1"/>
          </p:cNvSpPr>
          <p:nvPr>
            <p:ph type="title"/>
          </p:nvPr>
        </p:nvSpPr>
        <p:spPr>
          <a:xfrm>
            <a:off x="1326942" y="755374"/>
            <a:ext cx="9905998" cy="1726028"/>
          </a:xfrm>
        </p:spPr>
        <p:txBody>
          <a:bodyPr>
            <a:normAutofit fontScale="90000"/>
          </a:bodyPr>
          <a:lstStyle/>
          <a:p>
            <a:r>
              <a:rPr lang="en-US" b="1" dirty="0">
                <a:latin typeface="Adobe Garamond Pro Bold" panose="02020702060506020403" pitchFamily="18" charset="0"/>
              </a:rPr>
              <a:t>Project Objectives</a:t>
            </a:r>
            <a:br>
              <a:rPr lang="en-US" b="1" dirty="0">
                <a:latin typeface="Adobe Garamond Pro Bold" panose="02020702060506020403" pitchFamily="18" charset="0"/>
              </a:rPr>
            </a:br>
            <a:br>
              <a:rPr lang="en-US" b="1" dirty="0">
                <a:latin typeface="Adobe Garamond Pro Bold" panose="02020702060506020403" pitchFamily="18" charset="0"/>
              </a:rPr>
            </a:br>
            <a:r>
              <a:rPr lang="en-US" sz="2700" cap="none" dirty="0">
                <a:latin typeface="Adobe Garamond Pro" panose="02020502060506020403" pitchFamily="18" charset="0"/>
              </a:rPr>
              <a:t>The project focused on five major analyses:</a:t>
            </a:r>
            <a:br>
              <a:rPr lang="en-US" sz="2700" cap="none" dirty="0">
                <a:latin typeface="Adobe Garamond Pro" panose="02020502060506020403" pitchFamily="18" charset="0"/>
              </a:rPr>
            </a:br>
            <a:endParaRPr lang="en-AE" dirty="0">
              <a:latin typeface="Adobe Garamond Pro" panose="02020502060506020403" pitchFamily="18" charset="0"/>
            </a:endParaRPr>
          </a:p>
        </p:txBody>
      </p:sp>
      <p:sp>
        <p:nvSpPr>
          <p:cNvPr id="8" name="Content Placeholder 7">
            <a:extLst>
              <a:ext uri="{FF2B5EF4-FFF2-40B4-BE49-F238E27FC236}">
                <a16:creationId xmlns:a16="http://schemas.microsoft.com/office/drawing/2014/main" id="{8E459005-F8CE-4974-8459-69F2E50D125D}"/>
              </a:ext>
            </a:extLst>
          </p:cNvPr>
          <p:cNvSpPr>
            <a:spLocks noGrp="1"/>
          </p:cNvSpPr>
          <p:nvPr>
            <p:ph idx="1"/>
          </p:nvPr>
        </p:nvSpPr>
        <p:spPr>
          <a:xfrm>
            <a:off x="1141412" y="2249486"/>
            <a:ext cx="10091528" cy="4045297"/>
          </a:xfrm>
        </p:spPr>
        <p:txBody>
          <a:bodyPr>
            <a:normAutofit fontScale="77500" lnSpcReduction="20000"/>
          </a:bodyPr>
          <a:lstStyle/>
          <a:p>
            <a:r>
              <a:rPr lang="en-US" sz="2900" b="1" dirty="0">
                <a:latin typeface="Adobe Caslon Pro" panose="0205050205050A020403" pitchFamily="18" charset="0"/>
              </a:rPr>
              <a:t>1. Year-wise Loan Amount Statistics</a:t>
            </a:r>
            <a:br>
              <a:rPr lang="en-US" sz="2900" dirty="0">
                <a:latin typeface="Adobe Caslon Pro" panose="0205050205050A020403" pitchFamily="18" charset="0"/>
              </a:rPr>
            </a:br>
            <a:r>
              <a:rPr lang="en-US" sz="2900" dirty="0">
                <a:latin typeface="Adobe Caslon Pro" panose="0205050205050A020403" pitchFamily="18" charset="0"/>
              </a:rPr>
              <a:t>Analyze how loan amounts changed over different years.</a:t>
            </a:r>
          </a:p>
          <a:p>
            <a:r>
              <a:rPr lang="en-US" sz="2900" b="1" dirty="0">
                <a:latin typeface="Adobe Caslon Pro" panose="0205050205050A020403" pitchFamily="18" charset="0"/>
              </a:rPr>
              <a:t>2. Grade &amp; Sub-grade-wise Revolving Balance</a:t>
            </a:r>
            <a:br>
              <a:rPr lang="en-US" sz="2900" dirty="0">
                <a:latin typeface="Adobe Caslon Pro" panose="0205050205050A020403" pitchFamily="18" charset="0"/>
              </a:rPr>
            </a:br>
            <a:r>
              <a:rPr lang="en-US" sz="2900" dirty="0">
                <a:latin typeface="Adobe Caslon Pro" panose="0205050205050A020403" pitchFamily="18" charset="0"/>
              </a:rPr>
              <a:t>Analyze revolving balances across borrower grades and sub-grades.</a:t>
            </a:r>
          </a:p>
          <a:p>
            <a:r>
              <a:rPr lang="en-US" sz="2900" b="1" dirty="0">
                <a:latin typeface="Adobe Caslon Pro" panose="0205050205050A020403" pitchFamily="18" charset="0"/>
              </a:rPr>
              <a:t>3. Total Payment by Verification Status</a:t>
            </a:r>
            <a:br>
              <a:rPr lang="en-US" sz="2900" dirty="0">
                <a:latin typeface="Adobe Caslon Pro" panose="0205050205050A020403" pitchFamily="18" charset="0"/>
              </a:rPr>
            </a:br>
            <a:r>
              <a:rPr lang="en-US" sz="2900" dirty="0">
                <a:latin typeface="Adobe Caslon Pro" panose="0205050205050A020403" pitchFamily="18" charset="0"/>
              </a:rPr>
              <a:t>Compare payments across verified and non-verified borrower categories.</a:t>
            </a:r>
          </a:p>
          <a:p>
            <a:r>
              <a:rPr lang="en-US" sz="2900" b="1" dirty="0">
                <a:latin typeface="Adobe Caslon Pro" panose="0205050205050A020403" pitchFamily="18" charset="0"/>
              </a:rPr>
              <a:t>4. State-wise &amp; Month-wise Loan Status</a:t>
            </a:r>
            <a:br>
              <a:rPr lang="en-US" sz="2900" dirty="0">
                <a:latin typeface="Adobe Caslon Pro" panose="0205050205050A020403" pitchFamily="18" charset="0"/>
              </a:rPr>
            </a:br>
            <a:r>
              <a:rPr lang="en-US" sz="2900" dirty="0">
                <a:latin typeface="Adobe Caslon Pro" panose="0205050205050A020403" pitchFamily="18" charset="0"/>
              </a:rPr>
              <a:t>Understand the distribution of loan status across states and time.</a:t>
            </a:r>
          </a:p>
          <a:p>
            <a:r>
              <a:rPr lang="en-US" sz="2900" b="1" dirty="0">
                <a:latin typeface="Adobe Caslon Pro" panose="0205050205050A020403" pitchFamily="18" charset="0"/>
              </a:rPr>
              <a:t>5. Home Ownership vs Last Payment Date</a:t>
            </a:r>
            <a:br>
              <a:rPr lang="en-US" sz="2900" dirty="0">
                <a:latin typeface="Adobe Caslon Pro" panose="0205050205050A020403" pitchFamily="18" charset="0"/>
              </a:rPr>
            </a:br>
            <a:r>
              <a:rPr lang="en-US" sz="2900" dirty="0">
                <a:latin typeface="Adobe Caslon Pro" panose="0205050205050A020403" pitchFamily="18" charset="0"/>
              </a:rPr>
              <a:t>Analyze payment trends across different home ownership categories.</a:t>
            </a:r>
          </a:p>
          <a:p>
            <a:endParaRPr lang="en-AE" dirty="0"/>
          </a:p>
        </p:txBody>
      </p:sp>
    </p:spTree>
    <p:extLst>
      <p:ext uri="{BB962C8B-B14F-4D97-AF65-F5344CB8AC3E}">
        <p14:creationId xmlns:p14="http://schemas.microsoft.com/office/powerpoint/2010/main" val="84634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36E43-4818-41F5-B3A0-1B4726E1F7C4}"/>
              </a:ext>
            </a:extLst>
          </p:cNvPr>
          <p:cNvSpPr>
            <a:spLocks noGrp="1"/>
          </p:cNvSpPr>
          <p:nvPr>
            <p:ph type="title"/>
          </p:nvPr>
        </p:nvSpPr>
        <p:spPr>
          <a:xfrm>
            <a:off x="1216020" y="292174"/>
            <a:ext cx="9906000" cy="823912"/>
          </a:xfrm>
        </p:spPr>
        <p:txBody>
          <a:bodyPr/>
          <a:lstStyle/>
          <a:p>
            <a:r>
              <a:rPr lang="en-US" dirty="0">
                <a:latin typeface="Adobe Garamond Pro Bold" panose="02020702060506020403" pitchFamily="18" charset="0"/>
              </a:rPr>
              <a:t>excel Dashboard :</a:t>
            </a:r>
            <a:endParaRPr lang="en-AE" dirty="0">
              <a:latin typeface="Adobe Garamond Pro Bold" panose="02020702060506020403" pitchFamily="18" charset="0"/>
            </a:endParaRPr>
          </a:p>
        </p:txBody>
      </p:sp>
      <p:pic>
        <p:nvPicPr>
          <p:cNvPr id="8" name="Content Placeholder 7">
            <a:extLst>
              <a:ext uri="{FF2B5EF4-FFF2-40B4-BE49-F238E27FC236}">
                <a16:creationId xmlns:a16="http://schemas.microsoft.com/office/drawing/2014/main" id="{7501EF59-07BF-44FE-875F-09E33FEAAED3}"/>
              </a:ext>
            </a:extLst>
          </p:cNvPr>
          <p:cNvPicPr>
            <a:picLocks noGrp="1" noChangeAspect="1"/>
          </p:cNvPicPr>
          <p:nvPr>
            <p:ph sz="half" idx="2"/>
          </p:nvPr>
        </p:nvPicPr>
        <p:blipFill>
          <a:blip r:embed="rId2"/>
          <a:stretch>
            <a:fillRect/>
          </a:stretch>
        </p:blipFill>
        <p:spPr>
          <a:xfrm>
            <a:off x="1143000" y="1277386"/>
            <a:ext cx="9906000" cy="4962525"/>
          </a:xfrm>
        </p:spPr>
      </p:pic>
    </p:spTree>
    <p:extLst>
      <p:ext uri="{BB962C8B-B14F-4D97-AF65-F5344CB8AC3E}">
        <p14:creationId xmlns:p14="http://schemas.microsoft.com/office/powerpoint/2010/main" val="3080062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192FCB7-A4E2-4306-9BED-E596B3742678}"/>
              </a:ext>
            </a:extLst>
          </p:cNvPr>
          <p:cNvSpPr>
            <a:spLocks noGrp="1"/>
          </p:cNvSpPr>
          <p:nvPr>
            <p:ph type="title"/>
          </p:nvPr>
        </p:nvSpPr>
        <p:spPr>
          <a:xfrm>
            <a:off x="1143001" y="377687"/>
            <a:ext cx="9905998" cy="878978"/>
          </a:xfrm>
        </p:spPr>
        <p:txBody>
          <a:bodyPr/>
          <a:lstStyle/>
          <a:p>
            <a:r>
              <a:rPr lang="en-US" dirty="0"/>
              <a:t>Dashboard-2</a:t>
            </a:r>
            <a:endParaRPr lang="en-AE" dirty="0"/>
          </a:p>
        </p:txBody>
      </p:sp>
      <p:pic>
        <p:nvPicPr>
          <p:cNvPr id="10" name="Content Placeholder 9">
            <a:extLst>
              <a:ext uri="{FF2B5EF4-FFF2-40B4-BE49-F238E27FC236}">
                <a16:creationId xmlns:a16="http://schemas.microsoft.com/office/drawing/2014/main" id="{EE794FF4-9C73-45C8-B0AF-1E99CB01F63C}"/>
              </a:ext>
            </a:extLst>
          </p:cNvPr>
          <p:cNvPicPr>
            <a:picLocks noGrp="1" noChangeAspect="1"/>
          </p:cNvPicPr>
          <p:nvPr>
            <p:ph idx="1"/>
          </p:nvPr>
        </p:nvPicPr>
        <p:blipFill>
          <a:blip r:embed="rId2"/>
          <a:stretch>
            <a:fillRect/>
          </a:stretch>
        </p:blipFill>
        <p:spPr>
          <a:xfrm>
            <a:off x="1141412" y="1256665"/>
            <a:ext cx="9905997" cy="5223648"/>
          </a:xfrm>
        </p:spPr>
      </p:pic>
    </p:spTree>
    <p:extLst>
      <p:ext uri="{BB962C8B-B14F-4D97-AF65-F5344CB8AC3E}">
        <p14:creationId xmlns:p14="http://schemas.microsoft.com/office/powerpoint/2010/main" val="2135467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35427-EE47-4718-AE1D-85E10DD33D07}"/>
              </a:ext>
            </a:extLst>
          </p:cNvPr>
          <p:cNvSpPr>
            <a:spLocks noGrp="1"/>
          </p:cNvSpPr>
          <p:nvPr>
            <p:ph type="title"/>
          </p:nvPr>
        </p:nvSpPr>
        <p:spPr>
          <a:xfrm>
            <a:off x="1259809" y="271670"/>
            <a:ext cx="8911687" cy="621594"/>
          </a:xfrm>
        </p:spPr>
        <p:txBody>
          <a:bodyPr>
            <a:normAutofit/>
          </a:bodyPr>
          <a:lstStyle/>
          <a:p>
            <a:r>
              <a:rPr lang="en-US" dirty="0">
                <a:latin typeface="Adobe Garamond Pro Bold" panose="02020702060506020403" pitchFamily="18" charset="0"/>
              </a:rPr>
              <a:t>Tableau Dashboard :</a:t>
            </a:r>
            <a:endParaRPr lang="en-AE" dirty="0">
              <a:latin typeface="Adobe Garamond Pro Bold" panose="02020702060506020403" pitchFamily="18" charset="0"/>
            </a:endParaRPr>
          </a:p>
        </p:txBody>
      </p:sp>
      <p:pic>
        <p:nvPicPr>
          <p:cNvPr id="5" name="Content Placeholder 4">
            <a:extLst>
              <a:ext uri="{FF2B5EF4-FFF2-40B4-BE49-F238E27FC236}">
                <a16:creationId xmlns:a16="http://schemas.microsoft.com/office/drawing/2014/main" id="{8739D170-3057-4B86-AE52-3B0B78549279}"/>
              </a:ext>
            </a:extLst>
          </p:cNvPr>
          <p:cNvPicPr>
            <a:picLocks noGrp="1" noChangeAspect="1"/>
          </p:cNvPicPr>
          <p:nvPr>
            <p:ph idx="1"/>
          </p:nvPr>
        </p:nvPicPr>
        <p:blipFill>
          <a:blip r:embed="rId2"/>
          <a:stretch>
            <a:fillRect/>
          </a:stretch>
        </p:blipFill>
        <p:spPr>
          <a:xfrm>
            <a:off x="1417983" y="1285461"/>
            <a:ext cx="9568069" cy="5300869"/>
          </a:xfrm>
        </p:spPr>
      </p:pic>
    </p:spTree>
    <p:extLst>
      <p:ext uri="{BB962C8B-B14F-4D97-AF65-F5344CB8AC3E}">
        <p14:creationId xmlns:p14="http://schemas.microsoft.com/office/powerpoint/2010/main" val="1401903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6382F-9A30-499B-8158-472AE7151131}"/>
              </a:ext>
            </a:extLst>
          </p:cNvPr>
          <p:cNvSpPr>
            <a:spLocks noGrp="1"/>
          </p:cNvSpPr>
          <p:nvPr>
            <p:ph type="title"/>
          </p:nvPr>
        </p:nvSpPr>
        <p:spPr>
          <a:xfrm>
            <a:off x="694593" y="1518690"/>
            <a:ext cx="3437059" cy="760684"/>
          </a:xfrm>
        </p:spPr>
        <p:txBody>
          <a:bodyPr>
            <a:normAutofit fontScale="90000"/>
          </a:bodyPr>
          <a:lstStyle/>
          <a:p>
            <a:r>
              <a:rPr lang="en-US" dirty="0"/>
              <a:t>MySQL Analysis :</a:t>
            </a:r>
            <a:endParaRPr lang="en-AE" dirty="0"/>
          </a:p>
        </p:txBody>
      </p:sp>
      <p:pic>
        <p:nvPicPr>
          <p:cNvPr id="5" name="Content Placeholder 4">
            <a:extLst>
              <a:ext uri="{FF2B5EF4-FFF2-40B4-BE49-F238E27FC236}">
                <a16:creationId xmlns:a16="http://schemas.microsoft.com/office/drawing/2014/main" id="{97A1871C-8A2C-4427-8C8C-AFB5D67DC041}"/>
              </a:ext>
            </a:extLst>
          </p:cNvPr>
          <p:cNvPicPr>
            <a:picLocks noGrp="1" noChangeAspect="1"/>
          </p:cNvPicPr>
          <p:nvPr>
            <p:ph idx="1"/>
          </p:nvPr>
        </p:nvPicPr>
        <p:blipFill rotWithShape="1">
          <a:blip r:embed="rId2"/>
          <a:stretch/>
        </p:blipFill>
        <p:spPr>
          <a:xfrm>
            <a:off x="4326215" y="260302"/>
            <a:ext cx="4129245" cy="3053620"/>
          </a:xfrm>
          <a:prstGeom prst="rect">
            <a:avLst/>
          </a:prstGeom>
        </p:spPr>
      </p:pic>
      <p:pic>
        <p:nvPicPr>
          <p:cNvPr id="7" name="Picture 6">
            <a:extLst>
              <a:ext uri="{FF2B5EF4-FFF2-40B4-BE49-F238E27FC236}">
                <a16:creationId xmlns:a16="http://schemas.microsoft.com/office/drawing/2014/main" id="{61DBC902-5E53-47BE-BF11-AD73438D9A74}"/>
              </a:ext>
            </a:extLst>
          </p:cNvPr>
          <p:cNvPicPr>
            <a:picLocks noChangeAspect="1"/>
          </p:cNvPicPr>
          <p:nvPr/>
        </p:nvPicPr>
        <p:blipFill rotWithShape="1">
          <a:blip r:embed="rId3"/>
          <a:srcRect l="4342" t="6782" r="2362" b="4316"/>
          <a:stretch/>
        </p:blipFill>
        <p:spPr>
          <a:xfrm>
            <a:off x="8721076" y="3544078"/>
            <a:ext cx="3193774" cy="3141984"/>
          </a:xfrm>
          <a:prstGeom prst="rect">
            <a:avLst/>
          </a:prstGeom>
        </p:spPr>
      </p:pic>
      <p:pic>
        <p:nvPicPr>
          <p:cNvPr id="9" name="Picture 8">
            <a:extLst>
              <a:ext uri="{FF2B5EF4-FFF2-40B4-BE49-F238E27FC236}">
                <a16:creationId xmlns:a16="http://schemas.microsoft.com/office/drawing/2014/main" id="{A6030B21-FA67-4757-A1B2-05B63296F839}"/>
              </a:ext>
            </a:extLst>
          </p:cNvPr>
          <p:cNvPicPr>
            <a:picLocks noChangeAspect="1"/>
          </p:cNvPicPr>
          <p:nvPr/>
        </p:nvPicPr>
        <p:blipFill rotWithShape="1">
          <a:blip r:embed="rId4"/>
          <a:srcRect t="4401" r="3665"/>
          <a:stretch/>
        </p:blipFill>
        <p:spPr>
          <a:xfrm>
            <a:off x="4182240" y="3610070"/>
            <a:ext cx="4417193" cy="3058041"/>
          </a:xfrm>
          <a:prstGeom prst="rect">
            <a:avLst/>
          </a:prstGeom>
        </p:spPr>
      </p:pic>
      <p:pic>
        <p:nvPicPr>
          <p:cNvPr id="13" name="Picture 12">
            <a:extLst>
              <a:ext uri="{FF2B5EF4-FFF2-40B4-BE49-F238E27FC236}">
                <a16:creationId xmlns:a16="http://schemas.microsoft.com/office/drawing/2014/main" id="{89962E7E-75CF-41D4-84CC-1D510DCE31F2}"/>
              </a:ext>
            </a:extLst>
          </p:cNvPr>
          <p:cNvPicPr>
            <a:picLocks noChangeAspect="1"/>
          </p:cNvPicPr>
          <p:nvPr/>
        </p:nvPicPr>
        <p:blipFill rotWithShape="1">
          <a:blip r:embed="rId5"/>
          <a:srcRect l="3513" t="7171" r="7800"/>
          <a:stretch/>
        </p:blipFill>
        <p:spPr>
          <a:xfrm>
            <a:off x="8650023" y="102394"/>
            <a:ext cx="3264827" cy="3360594"/>
          </a:xfrm>
          <a:prstGeom prst="rect">
            <a:avLst/>
          </a:prstGeom>
        </p:spPr>
      </p:pic>
      <p:sp>
        <p:nvSpPr>
          <p:cNvPr id="22" name="Rectangle 11">
            <a:extLst>
              <a:ext uri="{FF2B5EF4-FFF2-40B4-BE49-F238E27FC236}">
                <a16:creationId xmlns:a16="http://schemas.microsoft.com/office/drawing/2014/main" id="{FF9C148E-09E9-4E86-8FC6-10B7FA737CBE}"/>
              </a:ext>
            </a:extLst>
          </p:cNvPr>
          <p:cNvSpPr>
            <a:spLocks noChangeArrowheads="1"/>
          </p:cNvSpPr>
          <p:nvPr/>
        </p:nvSpPr>
        <p:spPr bwMode="auto">
          <a:xfrm>
            <a:off x="509587" y="2433819"/>
            <a:ext cx="3816628"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MySQL was used to perform: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querying and filtering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Aggregation using </a:t>
            </a:r>
            <a:r>
              <a:rPr kumimoji="0" lang="en-US" altLang="en-US" sz="1100" b="0" i="0" u="none" strike="noStrike" cap="none" normalizeH="0" baseline="0" dirty="0">
                <a:ln>
                  <a:noFill/>
                </a:ln>
                <a:solidFill>
                  <a:schemeClr val="tx1"/>
                </a:solidFill>
                <a:effectLst/>
                <a:latin typeface="Arial Unicode MS"/>
              </a:rPr>
              <a:t>SUM</a:t>
            </a:r>
            <a:r>
              <a:rPr kumimoji="0" lang="en-US" altLang="en-US" sz="1400" b="0" i="0" u="none" strike="noStrike" cap="none" normalizeH="0" baseline="0" dirty="0">
                <a:ln>
                  <a:noFill/>
                </a:ln>
                <a:solidFill>
                  <a:schemeClr val="tx1"/>
                </a:solidFill>
                <a:effectLst/>
              </a:rPr>
              <a:t>, </a:t>
            </a:r>
            <a:r>
              <a:rPr kumimoji="0" lang="en-US" altLang="en-US" sz="1100" b="0" i="0" u="none" strike="noStrike" cap="none" normalizeH="0" baseline="0" dirty="0">
                <a:ln>
                  <a:noFill/>
                </a:ln>
                <a:solidFill>
                  <a:schemeClr val="tx1"/>
                </a:solidFill>
                <a:effectLst/>
                <a:latin typeface="Arial Unicode MS"/>
              </a:rPr>
              <a:t>COUNT</a:t>
            </a:r>
            <a:r>
              <a:rPr kumimoji="0" lang="en-US" altLang="en-US" sz="1400" b="0" i="0" u="none" strike="noStrike" cap="none" normalizeH="0" baseline="0" dirty="0">
                <a:ln>
                  <a:noFill/>
                </a:ln>
                <a:solidFill>
                  <a:schemeClr val="tx1"/>
                </a:solidFill>
                <a:effectLst/>
              </a:rPr>
              <a:t>, and </a:t>
            </a:r>
            <a:r>
              <a:rPr kumimoji="0" lang="en-US" altLang="en-US" sz="1100" b="0" i="0" u="none" strike="noStrike" cap="none" normalizeH="0" baseline="0" dirty="0">
                <a:ln>
                  <a:noFill/>
                </a:ln>
                <a:solidFill>
                  <a:schemeClr val="tx1"/>
                </a:solidFill>
                <a:effectLst/>
                <a:latin typeface="Arial Unicode MS"/>
              </a:rPr>
              <a:t>AVG</a:t>
            </a:r>
            <a:r>
              <a:rPr kumimoji="0" lang="en-US" altLang="en-US" sz="14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Unicode MS"/>
              </a:rPr>
              <a:t>GROUP BY</a:t>
            </a:r>
            <a:r>
              <a:rPr kumimoji="0" lang="en-US" altLang="en-US" b="0" i="0" u="none" strike="noStrike" cap="none" normalizeH="0" baseline="0" dirty="0">
                <a:ln>
                  <a:noFill/>
                </a:ln>
                <a:solidFill>
                  <a:schemeClr val="tx1"/>
                </a:solidFill>
                <a:effectLst/>
              </a:rPr>
              <a:t> analysis </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Unicode MS"/>
              </a:rPr>
              <a:t>ORDER BY</a:t>
            </a:r>
            <a:r>
              <a:rPr kumimoji="0" lang="en-US" altLang="en-US" b="0" i="0" u="none" strike="noStrike" cap="none" normalizeH="0" baseline="0" dirty="0">
                <a:ln>
                  <a:noFill/>
                </a:ln>
                <a:solidFill>
                  <a:schemeClr val="tx1"/>
                </a:solidFill>
                <a:effectLst/>
              </a:rPr>
              <a:t> analysis </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Joining datasets using </a:t>
            </a:r>
            <a:r>
              <a:rPr kumimoji="0" lang="en-US" altLang="en-US" sz="1600" b="0" i="0" u="none" strike="noStrike" cap="none" normalizeH="0" baseline="0" dirty="0">
                <a:ln>
                  <a:noFill/>
                </a:ln>
                <a:solidFill>
                  <a:schemeClr val="tx1"/>
                </a:solidFill>
                <a:effectLst/>
                <a:latin typeface="Arial Unicode MS"/>
              </a:rPr>
              <a:t>id</a:t>
            </a:r>
            <a:r>
              <a:rPr kumimoji="0" lang="en-US" altLang="en-US" sz="20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Year, month, state, grade, and verification-based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6616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FCCB9-BEF3-4DB8-8D69-F1CA60B95196}"/>
              </a:ext>
            </a:extLst>
          </p:cNvPr>
          <p:cNvSpPr>
            <a:spLocks noGrp="1"/>
          </p:cNvSpPr>
          <p:nvPr>
            <p:ph type="title"/>
          </p:nvPr>
        </p:nvSpPr>
        <p:spPr>
          <a:xfrm>
            <a:off x="1176329" y="544598"/>
            <a:ext cx="8911687" cy="674603"/>
          </a:xfrm>
        </p:spPr>
        <p:txBody>
          <a:bodyPr>
            <a:normAutofit/>
          </a:bodyPr>
          <a:lstStyle/>
          <a:p>
            <a:r>
              <a:rPr lang="en-US" dirty="0"/>
              <a:t>Power bi Dashboard :</a:t>
            </a:r>
            <a:endParaRPr lang="en-AE" dirty="0"/>
          </a:p>
        </p:txBody>
      </p:sp>
      <p:pic>
        <p:nvPicPr>
          <p:cNvPr id="5" name="Content Placeholder 4">
            <a:extLst>
              <a:ext uri="{FF2B5EF4-FFF2-40B4-BE49-F238E27FC236}">
                <a16:creationId xmlns:a16="http://schemas.microsoft.com/office/drawing/2014/main" id="{91541A1C-AB46-4B61-AC76-0D4C8347E30D}"/>
              </a:ext>
            </a:extLst>
          </p:cNvPr>
          <p:cNvPicPr>
            <a:picLocks noGrp="1" noChangeAspect="1"/>
          </p:cNvPicPr>
          <p:nvPr>
            <p:ph idx="1"/>
          </p:nvPr>
        </p:nvPicPr>
        <p:blipFill>
          <a:blip r:embed="rId2"/>
          <a:stretch>
            <a:fillRect/>
          </a:stretch>
        </p:blipFill>
        <p:spPr>
          <a:xfrm>
            <a:off x="1292086" y="1338469"/>
            <a:ext cx="10103155" cy="4974933"/>
          </a:xfrm>
        </p:spPr>
      </p:pic>
    </p:spTree>
    <p:extLst>
      <p:ext uri="{BB962C8B-B14F-4D97-AF65-F5344CB8AC3E}">
        <p14:creationId xmlns:p14="http://schemas.microsoft.com/office/powerpoint/2010/main" val="571961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7E884-8262-443C-B38D-7C54E1503618}"/>
              </a:ext>
            </a:extLst>
          </p:cNvPr>
          <p:cNvSpPr>
            <a:spLocks noGrp="1"/>
          </p:cNvSpPr>
          <p:nvPr>
            <p:ph type="title"/>
          </p:nvPr>
        </p:nvSpPr>
        <p:spPr>
          <a:xfrm>
            <a:off x="1141413" y="618518"/>
            <a:ext cx="9905998" cy="1011499"/>
          </a:xfrm>
        </p:spPr>
        <p:txBody>
          <a:bodyPr>
            <a:normAutofit fontScale="90000"/>
          </a:bodyPr>
          <a:lstStyle/>
          <a:p>
            <a:r>
              <a:rPr lang="en-US" b="1" dirty="0">
                <a:latin typeface="Adobe Garamond Pro Bold" panose="02020702060506020403" pitchFamily="18" charset="0"/>
              </a:rPr>
              <a:t>Key Insights</a:t>
            </a:r>
            <a:br>
              <a:rPr lang="en-US" b="1" dirty="0"/>
            </a:br>
            <a:endParaRPr lang="en-AE" dirty="0"/>
          </a:p>
        </p:txBody>
      </p:sp>
      <p:sp>
        <p:nvSpPr>
          <p:cNvPr id="3" name="Content Placeholder 2">
            <a:extLst>
              <a:ext uri="{FF2B5EF4-FFF2-40B4-BE49-F238E27FC236}">
                <a16:creationId xmlns:a16="http://schemas.microsoft.com/office/drawing/2014/main" id="{2E235764-C350-4B5F-AEC5-586FE3CCB97B}"/>
              </a:ext>
            </a:extLst>
          </p:cNvPr>
          <p:cNvSpPr>
            <a:spLocks noGrp="1"/>
          </p:cNvSpPr>
          <p:nvPr>
            <p:ph idx="1"/>
          </p:nvPr>
        </p:nvSpPr>
        <p:spPr>
          <a:xfrm>
            <a:off x="1141413" y="1630017"/>
            <a:ext cx="9905999" cy="3541714"/>
          </a:xfrm>
        </p:spPr>
        <p:txBody>
          <a:bodyPr>
            <a:normAutofit fontScale="92500"/>
          </a:bodyPr>
          <a:lstStyle/>
          <a:p>
            <a:pPr marL="0" indent="0">
              <a:buNone/>
            </a:pPr>
            <a:endParaRPr lang="en-US" b="1" dirty="0"/>
          </a:p>
          <a:p>
            <a:pPr>
              <a:buFont typeface="Arial" panose="020B0604020202020204" pitchFamily="34" charset="0"/>
              <a:buChar char="•"/>
            </a:pPr>
            <a:r>
              <a:rPr lang="en-US" dirty="0"/>
              <a:t>Loan amount increased from </a:t>
            </a:r>
            <a:r>
              <a:rPr lang="en-US" b="1" dirty="0"/>
              <a:t>$2M (2007) to $261M (2011)</a:t>
            </a:r>
            <a:r>
              <a:rPr lang="en-US" dirty="0"/>
              <a:t>. </a:t>
            </a:r>
          </a:p>
          <a:p>
            <a:pPr>
              <a:buFont typeface="Arial" panose="020B0604020202020204" pitchFamily="34" charset="0"/>
              <a:buChar char="•"/>
            </a:pPr>
            <a:r>
              <a:rPr lang="en-US" b="1" dirty="0"/>
              <a:t>Grade B</a:t>
            </a:r>
            <a:r>
              <a:rPr lang="en-US" dirty="0"/>
              <a:t> recorded the highest revolving balance, with </a:t>
            </a:r>
            <a:r>
              <a:rPr lang="en-US" b="1" dirty="0"/>
              <a:t>B3 and B5 ≈ $40M each</a:t>
            </a:r>
            <a:r>
              <a:rPr lang="en-US" dirty="0"/>
              <a:t>. </a:t>
            </a:r>
          </a:p>
          <a:p>
            <a:pPr>
              <a:buFont typeface="Arial" panose="020B0604020202020204" pitchFamily="34" charset="0"/>
              <a:buChar char="•"/>
            </a:pPr>
            <a:r>
              <a:rPr lang="en-US" b="1" dirty="0"/>
              <a:t>Verified</a:t>
            </a:r>
            <a:r>
              <a:rPr lang="en-US" dirty="0"/>
              <a:t> borrowers recorded the highest total payments at </a:t>
            </a:r>
            <a:r>
              <a:rPr lang="en-US" b="1" dirty="0"/>
              <a:t>$220M</a:t>
            </a:r>
            <a:r>
              <a:rPr lang="en-US" dirty="0"/>
              <a:t>. </a:t>
            </a:r>
          </a:p>
          <a:p>
            <a:pPr>
              <a:buFont typeface="Arial" panose="020B0604020202020204" pitchFamily="34" charset="0"/>
              <a:buChar char="•"/>
            </a:pPr>
            <a:r>
              <a:rPr lang="en-US" b="1" dirty="0"/>
              <a:t>California, New York, Texas, and Florida</a:t>
            </a:r>
            <a:r>
              <a:rPr lang="en-US" dirty="0"/>
              <a:t> showed high loan activity. </a:t>
            </a:r>
          </a:p>
          <a:p>
            <a:pPr>
              <a:buFont typeface="Arial" panose="020B0604020202020204" pitchFamily="34" charset="0"/>
              <a:buChar char="•"/>
            </a:pPr>
            <a:r>
              <a:rPr lang="en-US" b="1" dirty="0"/>
              <a:t>Mortgage and Rent</a:t>
            </a:r>
            <a:r>
              <a:rPr lang="en-US" dirty="0"/>
              <a:t> categories recorded the highest payment amounts.</a:t>
            </a:r>
          </a:p>
          <a:p>
            <a:endParaRPr lang="en-AE" dirty="0"/>
          </a:p>
        </p:txBody>
      </p:sp>
    </p:spTree>
    <p:extLst>
      <p:ext uri="{BB962C8B-B14F-4D97-AF65-F5344CB8AC3E}">
        <p14:creationId xmlns:p14="http://schemas.microsoft.com/office/powerpoint/2010/main" val="2657900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D7481-AB7E-4931-AC3E-DC81F2BCE7CE}"/>
              </a:ext>
            </a:extLst>
          </p:cNvPr>
          <p:cNvSpPr>
            <a:spLocks noGrp="1"/>
          </p:cNvSpPr>
          <p:nvPr>
            <p:ph type="title"/>
          </p:nvPr>
        </p:nvSpPr>
        <p:spPr/>
        <p:txBody>
          <a:bodyPr/>
          <a:lstStyle/>
          <a:p>
            <a:r>
              <a:rPr lang="en-US" dirty="0">
                <a:latin typeface="Adobe Garamond Pro Bold" panose="02020702060506020403" pitchFamily="18" charset="0"/>
              </a:rPr>
              <a:t>Recommendations :</a:t>
            </a:r>
            <a:endParaRPr lang="en-AE" dirty="0">
              <a:latin typeface="Adobe Garamond Pro Bold" panose="02020702060506020403" pitchFamily="18" charset="0"/>
            </a:endParaRPr>
          </a:p>
        </p:txBody>
      </p:sp>
      <p:sp>
        <p:nvSpPr>
          <p:cNvPr id="3" name="Content Placeholder 2">
            <a:extLst>
              <a:ext uri="{FF2B5EF4-FFF2-40B4-BE49-F238E27FC236}">
                <a16:creationId xmlns:a16="http://schemas.microsoft.com/office/drawing/2014/main" id="{CA1434EE-6550-4C1E-BF93-936779EDB7E1}"/>
              </a:ext>
            </a:extLst>
          </p:cNvPr>
          <p:cNvSpPr>
            <a:spLocks noGrp="1"/>
          </p:cNvSpPr>
          <p:nvPr>
            <p:ph idx="1"/>
          </p:nvPr>
        </p:nvSpPr>
        <p:spPr/>
        <p:txBody>
          <a:bodyPr>
            <a:normAutofit fontScale="92500"/>
          </a:bodyPr>
          <a:lstStyle/>
          <a:p>
            <a:r>
              <a:rPr lang="en-US" dirty="0"/>
              <a:t>Enforce Income Verification: Require mandatory income proof for high-value loans, as verified borrowers drive over 68% of reliable loan repayments.</a:t>
            </a:r>
          </a:p>
          <a:p>
            <a:r>
              <a:rPr lang="en-US" dirty="0"/>
              <a:t>Expand in Low-Risk Tiers: Focus marketing and lending efforts on Grade A and Grade B applicants to maintain low default rates while expanding the portfolio.</a:t>
            </a:r>
          </a:p>
          <a:p>
            <a:r>
              <a:rPr lang="en-US" dirty="0"/>
              <a:t>Focus on Key Regions: Allocate dedicated risk and growth capital to high-volume states like California, Texas, New York, and Florida.</a:t>
            </a:r>
          </a:p>
          <a:p>
            <a:r>
              <a:rPr lang="en-US" dirty="0"/>
              <a:t>Target Homeowners &amp; Renters: Offer competitive interest rates</a:t>
            </a:r>
            <a:endParaRPr lang="en-AE" dirty="0"/>
          </a:p>
        </p:txBody>
      </p:sp>
    </p:spTree>
    <p:extLst>
      <p:ext uri="{BB962C8B-B14F-4D97-AF65-F5344CB8AC3E}">
        <p14:creationId xmlns:p14="http://schemas.microsoft.com/office/powerpoint/2010/main" val="2026408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2B67-43FC-481B-BF90-A6ED39B6DCA8}"/>
              </a:ext>
            </a:extLst>
          </p:cNvPr>
          <p:cNvSpPr>
            <a:spLocks noGrp="1"/>
          </p:cNvSpPr>
          <p:nvPr>
            <p:ph type="title"/>
          </p:nvPr>
        </p:nvSpPr>
        <p:spPr>
          <a:xfrm>
            <a:off x="1141413" y="618518"/>
            <a:ext cx="9778378" cy="958491"/>
          </a:xfrm>
        </p:spPr>
        <p:txBody>
          <a:bodyPr/>
          <a:lstStyle/>
          <a:p>
            <a:r>
              <a:rPr lang="en-US" dirty="0">
                <a:latin typeface="Adobe Garamond Pro Bold" panose="02020702060506020403" pitchFamily="18" charset="0"/>
              </a:rPr>
              <a:t>Future Scope :</a:t>
            </a:r>
            <a:endParaRPr lang="en-AE" dirty="0">
              <a:latin typeface="Adobe Garamond Pro Bold" panose="02020702060506020403" pitchFamily="18" charset="0"/>
            </a:endParaRPr>
          </a:p>
        </p:txBody>
      </p:sp>
      <p:sp>
        <p:nvSpPr>
          <p:cNvPr id="3" name="Content Placeholder 2">
            <a:extLst>
              <a:ext uri="{FF2B5EF4-FFF2-40B4-BE49-F238E27FC236}">
                <a16:creationId xmlns:a16="http://schemas.microsoft.com/office/drawing/2014/main" id="{B1120D4A-E4C8-4E24-AAE0-AA4718DA2F01}"/>
              </a:ext>
            </a:extLst>
          </p:cNvPr>
          <p:cNvSpPr>
            <a:spLocks noGrp="1"/>
          </p:cNvSpPr>
          <p:nvPr>
            <p:ph idx="1"/>
          </p:nvPr>
        </p:nvSpPr>
        <p:spPr>
          <a:xfrm>
            <a:off x="1141412" y="1997696"/>
            <a:ext cx="9905999" cy="3541714"/>
          </a:xfrm>
        </p:spPr>
        <p:txBody>
          <a:bodyPr/>
          <a:lstStyle/>
          <a:p>
            <a:r>
              <a:rPr lang="en-US" dirty="0">
                <a:latin typeface="Adobe Garamond Pro" panose="02020502060506020403" pitchFamily="18" charset="0"/>
              </a:rPr>
              <a:t>Automate data refresh and reporting.</a:t>
            </a:r>
          </a:p>
          <a:p>
            <a:r>
              <a:rPr lang="en-US" dirty="0">
                <a:latin typeface="Adobe Garamond Pro" panose="02020502060506020403" pitchFamily="18" charset="0"/>
              </a:rPr>
              <a:t>Build real-time loan monitoring dashboards.</a:t>
            </a:r>
          </a:p>
          <a:p>
            <a:r>
              <a:rPr lang="en-US" dirty="0">
                <a:latin typeface="Adobe Garamond Pro" panose="02020502060506020403" pitchFamily="18" charset="0"/>
              </a:rPr>
              <a:t>Add predictive analysis for loan default risk.</a:t>
            </a:r>
          </a:p>
          <a:p>
            <a:r>
              <a:rPr lang="en-US" dirty="0">
                <a:latin typeface="Adobe Garamond Pro" panose="02020502060506020403" pitchFamily="18" charset="0"/>
              </a:rPr>
              <a:t>Analyze customer segmentation.</a:t>
            </a:r>
          </a:p>
          <a:p>
            <a:r>
              <a:rPr lang="en-US" dirty="0">
                <a:latin typeface="Adobe Garamond Pro" panose="02020502060506020403" pitchFamily="18" charset="0"/>
              </a:rPr>
              <a:t>Develop early-warning indicators for repayment issues.</a:t>
            </a:r>
          </a:p>
          <a:p>
            <a:r>
              <a:rPr lang="en-US" dirty="0">
                <a:latin typeface="Adobe Garamond Pro" panose="02020502060506020403" pitchFamily="18" charset="0"/>
              </a:rPr>
              <a:t>Integrate additional banking/customer datasets.</a:t>
            </a:r>
            <a:endParaRPr lang="en-AE" dirty="0">
              <a:latin typeface="Adobe Garamond Pro" panose="02020502060506020403" pitchFamily="18" charset="0"/>
            </a:endParaRPr>
          </a:p>
        </p:txBody>
      </p:sp>
    </p:spTree>
    <p:extLst>
      <p:ext uri="{BB962C8B-B14F-4D97-AF65-F5344CB8AC3E}">
        <p14:creationId xmlns:p14="http://schemas.microsoft.com/office/powerpoint/2010/main" val="2920497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7E7FC-8A84-4770-9C3B-565E7F841E12}"/>
              </a:ext>
            </a:extLst>
          </p:cNvPr>
          <p:cNvSpPr>
            <a:spLocks noGrp="1"/>
          </p:cNvSpPr>
          <p:nvPr>
            <p:ph type="title"/>
          </p:nvPr>
        </p:nvSpPr>
        <p:spPr/>
        <p:txBody>
          <a:bodyPr/>
          <a:lstStyle/>
          <a:p>
            <a:r>
              <a:rPr lang="en-US" dirty="0">
                <a:latin typeface="Adobe Garamond Pro Bold" panose="02020702060506020403" pitchFamily="18" charset="0"/>
              </a:rPr>
              <a:t>Conclusion :</a:t>
            </a:r>
            <a:endParaRPr lang="en-AE" dirty="0">
              <a:latin typeface="Adobe Garamond Pro Bold" panose="02020702060506020403" pitchFamily="18" charset="0"/>
            </a:endParaRPr>
          </a:p>
        </p:txBody>
      </p:sp>
      <p:sp>
        <p:nvSpPr>
          <p:cNvPr id="3" name="Content Placeholder 2">
            <a:extLst>
              <a:ext uri="{FF2B5EF4-FFF2-40B4-BE49-F238E27FC236}">
                <a16:creationId xmlns:a16="http://schemas.microsoft.com/office/drawing/2014/main" id="{A5D74A79-89DB-4326-9D1B-4557CEF82B04}"/>
              </a:ext>
            </a:extLst>
          </p:cNvPr>
          <p:cNvSpPr>
            <a:spLocks noGrp="1"/>
          </p:cNvSpPr>
          <p:nvPr>
            <p:ph idx="1"/>
          </p:nvPr>
        </p:nvSpPr>
        <p:spPr>
          <a:xfrm>
            <a:off x="1141412" y="2249487"/>
            <a:ext cx="9486831" cy="3541714"/>
          </a:xfrm>
        </p:spPr>
        <p:txBody>
          <a:bodyPr/>
          <a:lstStyle/>
          <a:p>
            <a:r>
              <a:rPr lang="en-US" dirty="0">
                <a:latin typeface="Adobe Garamond Pro" panose="02020502060506020403" pitchFamily="18" charset="0"/>
              </a:rPr>
              <a:t>In conclusion, by using end-to-end data analytics across SQL, Excel, Tableau, and Power BI, this project proves how smart data decisions can turn raw banking records into clear business insights, helping us safely grow our loan portfolio while keeping credit risk fully under control.</a:t>
            </a:r>
            <a:endParaRPr lang="en-AE" dirty="0">
              <a:latin typeface="Adobe Garamond Pro" panose="02020502060506020403" pitchFamily="18" charset="0"/>
            </a:endParaRPr>
          </a:p>
        </p:txBody>
      </p:sp>
    </p:spTree>
    <p:extLst>
      <p:ext uri="{BB962C8B-B14F-4D97-AF65-F5344CB8AC3E}">
        <p14:creationId xmlns:p14="http://schemas.microsoft.com/office/powerpoint/2010/main" val="2101968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ACFF0-A72D-4638-99E6-FF664F78E5A1}"/>
              </a:ext>
            </a:extLst>
          </p:cNvPr>
          <p:cNvSpPr>
            <a:spLocks noGrp="1"/>
          </p:cNvSpPr>
          <p:nvPr>
            <p:ph type="title"/>
          </p:nvPr>
        </p:nvSpPr>
        <p:spPr>
          <a:xfrm>
            <a:off x="3001619" y="2513578"/>
            <a:ext cx="5771320" cy="2058421"/>
          </a:xfrm>
        </p:spPr>
        <p:txBody>
          <a:bodyPr>
            <a:normAutofit/>
          </a:bodyPr>
          <a:lstStyle/>
          <a:p>
            <a:pPr algn="ctr"/>
            <a:r>
              <a:rPr lang="en-US" sz="6000" dirty="0">
                <a:latin typeface="Adobe Garamond Pro Bold" panose="02020702060506020403" pitchFamily="18" charset="0"/>
              </a:rPr>
              <a:t>THANK YOU</a:t>
            </a:r>
            <a:br>
              <a:rPr lang="en-US" sz="6000" dirty="0">
                <a:latin typeface="Adobe Garamond Pro Bold" panose="02020702060506020403" pitchFamily="18" charset="0"/>
              </a:rPr>
            </a:br>
            <a:r>
              <a:rPr lang="en-US" sz="5300" dirty="0">
                <a:latin typeface="Adobe Garamond Pro Bold" panose="02020702060506020403" pitchFamily="18" charset="0"/>
              </a:rPr>
              <a:t>✿✿✿✿✿✿✿✿</a:t>
            </a:r>
            <a:endParaRPr lang="en-AE" sz="6000" dirty="0">
              <a:latin typeface="Adobe Garamond Pro Bold" panose="02020702060506020403" pitchFamily="18" charset="0"/>
            </a:endParaRPr>
          </a:p>
        </p:txBody>
      </p:sp>
    </p:spTree>
    <p:extLst>
      <p:ext uri="{BB962C8B-B14F-4D97-AF65-F5344CB8AC3E}">
        <p14:creationId xmlns:p14="http://schemas.microsoft.com/office/powerpoint/2010/main" val="11901399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775</TotalTime>
  <Words>577</Words>
  <Application>Microsoft Office PowerPoint</Application>
  <PresentationFormat>Widescreen</PresentationFormat>
  <Paragraphs>72</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Adobe Caslon Pro</vt:lpstr>
      <vt:lpstr>Adobe Garamond Pro</vt:lpstr>
      <vt:lpstr>Adobe Garamond Pro Bold</vt:lpstr>
      <vt:lpstr>Arial</vt:lpstr>
      <vt:lpstr>Arial Unicode MS</vt:lpstr>
      <vt:lpstr>Tw Cen MT</vt:lpstr>
      <vt:lpstr>Circuit</vt:lpstr>
      <vt:lpstr>Bank Loan Financial Analytics</vt:lpstr>
      <vt:lpstr>GROUP MEMBERS</vt:lpstr>
      <vt:lpstr>Project overview</vt:lpstr>
      <vt:lpstr>PowerPoint Presentation</vt:lpstr>
      <vt:lpstr>Workflow Followed</vt:lpstr>
      <vt:lpstr>Project Objectives  The project focused on five major analyses: </vt:lpstr>
      <vt:lpstr>excel Dashboard :</vt:lpstr>
      <vt:lpstr>Dashboard-2</vt:lpstr>
      <vt:lpstr>Tableau Dashboard :</vt:lpstr>
      <vt:lpstr>MySQL Analysis :</vt:lpstr>
      <vt:lpstr>Power bi Dashboard :</vt:lpstr>
      <vt:lpstr>Key Insights </vt:lpstr>
      <vt:lpstr>Recommendations :</vt:lpstr>
      <vt:lpstr>Future Scope :</vt:lpstr>
      <vt:lpstr>Conclusion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LOAN DATA ANALYSIS</dc:title>
  <dc:creator>user</dc:creator>
  <cp:lastModifiedBy>user</cp:lastModifiedBy>
  <cp:revision>21</cp:revision>
  <dcterms:created xsi:type="dcterms:W3CDTF">2026-09-19T06:00:54Z</dcterms:created>
  <dcterms:modified xsi:type="dcterms:W3CDTF">2026-09-20T04:04:45Z</dcterms:modified>
</cp:coreProperties>
</file>